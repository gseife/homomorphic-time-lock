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C63FF"/>
                </a:solidFill>
              </a:defRPr>
            </a:pPr>
            <a:r>
              <a:t>Homomorphic Time-Lock Puzzles</a:t>
            </a:r>
          </a:p>
          <a:p>
            <a:pPr algn="ctr">
              <a:defRPr sz="5200" b="1">
                <a:solidFill>
                  <a:srgbClr val="6C63FF"/>
                </a:solidFill>
              </a:defRPr>
            </a:pPr>
            <a:r>
              <a:t>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>
                <a:solidFill>
                  <a:srgbClr val="8B8DA3"/>
                </a:solidFill>
              </a:defRPr>
            </a:pPr>
            <a:r>
              <a:t>Malavolta &amp; Thyagarajan (2019) — Paper Presentation</a:t>
            </a:r>
          </a:p>
          <a:p>
            <a:pPr algn="ctr">
              <a:spcAft>
                <a:spcPts val="400"/>
              </a:spcAft>
              <a:defRPr sz="2200">
                <a:solidFill>
                  <a:srgbClr val="8B8DA3"/>
                </a:solidFill>
              </a:defRPr>
            </a:pPr>
            <a:r>
              <a:t>Smart Contracts Seminar — University of St. Gallen</a:t>
            </a:r>
          </a:p>
          <a:p>
            <a:pPr algn="ctr">
              <a:spcAft>
                <a:spcPts val="400"/>
              </a:spcAft>
              <a:defRPr sz="2200">
                <a:solidFill>
                  <a:srgbClr val="8B8DA3"/>
                </a:solidFill>
              </a:defRPr>
            </a:pPr>
            <a:r>
              <a:t>Spring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1/28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Demo Initiation — Cast your votes!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Homomorphic Encryption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Time-Lock Puzzles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Homomorphic Time-Lock Puzzles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Application: Coin Flipping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Application: E-Voting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Voting Application Structure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Live Demonstration — Results!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2/28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AA"/>
                </a:solidFill>
              </a:defRPr>
            </a:pPr>
            <a:r>
              <a:t>Time to Vote!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>
                <a:solidFill>
                  <a:srgbClr val="E8E8F0"/>
                </a:solidFill>
              </a:defRPr>
            </a:pPr>
            <a:r>
              <a:t>Open the voting link on your phone and cast your vote for Alice or Bob.</a:t>
            </a:r>
          </a:p>
          <a:p>
            <a:pPr algn="ctr">
              <a:spcAft>
                <a:spcPts val="600"/>
              </a:spcAft>
              <a:defRPr sz="2200">
                <a:solidFill>
                  <a:srgbClr val="E8E8F0"/>
                </a:solidFill>
              </a:defRPr>
            </a:pPr>
          </a:p>
          <a:p>
            <a:pPr algn="ctr">
              <a:spcAft>
                <a:spcPts val="600"/>
              </a:spcAft>
              <a:defRPr sz="2200">
                <a:solidFill>
                  <a:srgbClr val="8B8DA3"/>
                </a:solidFill>
              </a:defRPr>
            </a:pPr>
            <a:r>
              <a:t>Your vote is immediately encrypted into a time-lock puzzle.</a:t>
            </a:r>
          </a:p>
          <a:p>
            <a:pPr algn="ctr">
              <a:spcAft>
                <a:spcPts val="600"/>
              </a:spcAft>
              <a:defRPr sz="2200">
                <a:solidFill>
                  <a:srgbClr val="8B8DA3"/>
                </a:solidFill>
              </a:defRPr>
            </a:pPr>
            <a:r>
              <a:t>No one — not even the server — can see individual votes.</a:t>
            </a:r>
          </a:p>
          <a:p>
            <a:pPr algn="ctr">
              <a:spcAft>
                <a:spcPts val="600"/>
              </a:spcAft>
              <a:defRPr sz="2200">
                <a:solidFill>
                  <a:srgbClr val="8B8DA3"/>
                </a:solidFill>
              </a:defRPr>
            </a:pPr>
          </a:p>
          <a:p>
            <a:pPr algn="ctr">
              <a:spcAft>
                <a:spcPts val="600"/>
              </a:spcAft>
              <a:defRPr sz="2200">
                <a:solidFill>
                  <a:srgbClr val="8B8DA3"/>
                </a:solidFill>
              </a:defRPr>
            </a:pPr>
            <a:r>
              <a:t>While you vote, let's learn how this works...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3/28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Motivation: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Consider e-voting without a trusted authority (e.g., on a blockchain)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Naive approach (Commit-Reveal):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Voters commit to their vote, then reveal later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Problem: voters can go offline → attacker can block openings to bias result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Time-Lock Puzzles fix the offline problem: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Replace commitments with time-lock puzzles — offline votes can be brute-forced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But: 100,000 missing votes = 100,000 puzzles to solve → does not scale!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4/28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8DA3"/>
                </a:solidFill>
              </a:defRPr>
            </a:pPr>
            <a:r>
              <a:t>Concept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C63FF"/>
                </a:solidFill>
              </a:defRPr>
            </a:pPr>
            <a:r>
              <a:t>Homomorphic Encryption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8B8DA3"/>
                </a:solidFill>
              </a:defRPr>
            </a:pPr>
            <a:r>
              <a:t>Computing on encrypted data without decrypting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5/28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What is Homomorphic Encryption?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A cryptosystem where operations on ciphertexts correspond to operations on plaintexts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Enc(a) ⊕ Enc(b)  =  Enc(a + b)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Without Homomorphism: Decrypt all → Compute f(x) → Re-encrypt  (breaks privacy!)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With Homomorphism: Compute on ciphertexts directly → Decrypt only the final result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Analogy (Paillier): Multiply two ciphertexts mod N² → get encryption of the sum of plaintexts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This is the exact structure used in the HTLP construction!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6/28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Flavors of Homomorphism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Linearly Homomorphic (Additive):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Enc(a) · Enc(b) = Enc(a + b)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Used for e-voting &amp; coin flipping — efficient RSA-based construction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Multiplicatively Homomorphic: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Enc(a) · Enc(b) = Enc(a · b)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Used for contract signing — efficient RSA-based construction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Fully Homomorphic: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Eval(C, Enc(a), Enc(b)) = Enc(C(a,b)) for any function C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Requires obfuscation — theoretical, not yet practical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7/28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8DA3"/>
                </a:solidFill>
              </a:defRPr>
            </a:pPr>
            <a:r>
              <a:t>Concept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C63FF"/>
                </a:solidFill>
              </a:defRPr>
            </a:pPr>
            <a:r>
              <a:t>Time-Lock Puzzles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8B8DA3"/>
                </a:solidFill>
              </a:defRPr>
            </a:pPr>
            <a:r>
              <a:t>Encrypting messages for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8/28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Time-Lock Puzzles (TLP)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Encapsulate a secret s such that it remains hidden until time T has elapsed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Key Properties: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Fast generation: Creating a puzzle is much faster than T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Sequential work: Secret hidden from any circuit of depth &lt; T, regardless of parallelism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No shortcut: More processors don't help — each squaring depends on the previous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RSA-based TLP (Rivest, Shamir, Wagner 1996):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N = p · q  (RSA modulus)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Solving: x → x² → x⁴ → x⁸ → ... → x^(2^T)  (T sequential squarings)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9/28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Why Can't We Parallelize?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To compute x^(2^T) mod N, each squaring depends on the previous result: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w₀ = x  →  w₁ = w₀²  →  w₂ = w₁²  →  ...  →  w_T = w_{T-1}²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Without knowing p, q: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Must perform all T squarings one after another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1000 CPUs ≠ 1000x speedup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With knowing p, q (setup authority):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Can reduce exponent: 2^T mod φ(N) — enables fast puzzle generation!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10/28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The Scalability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Standard TLPs require solving each puzzle individually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Example: 100,000 voters offline = 100,000 × T sequential squarings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The Key Insight of Malavolta &amp; Thyagarajan: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What if we could evaluate a function over puzzles first,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then solve just one puzzle?</a:t>
            </a:r>
          </a:p>
          <a:p>
            <a:pPr>
              <a:spcAft>
                <a:spcPts val="200"/>
              </a:spcAft>
              <a:defRPr sz="1000"/>
            </a:pP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Combine all puzzles (instant)  →  Solve 1 result puzzle (T squarings)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Total work: m × T  (m = number of candidates, NOT voters!)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11/28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8DA3"/>
                </a:solidFill>
              </a:defRPr>
            </a:pPr>
            <a:r>
              <a:t>Core Contribution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C63FF"/>
                </a:solidFill>
              </a:defRPr>
            </a:pPr>
            <a:r>
              <a:t>Homomorphic Time-Lock Puzzles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8B8DA3"/>
                </a:solidFill>
              </a:defRPr>
            </a:pPr>
            <a:r>
              <a:t>Combining the best of both worlds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12/28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HTLP: Formal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Four algorithms define an HTLP scheme:</a:t>
            </a:r>
          </a:p>
          <a:p>
            <a:pPr>
              <a:spcAft>
                <a:spcPts val="200"/>
              </a:spcAft>
              <a:defRPr sz="1000"/>
            </a:pP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HP.PSetup(1^λ, T) — One-time setup: generate public parameters (N, g, h)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HP.PGen(pp, s) — Create puzzle Z for secret s  (fast, milliseconds)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HP.PEval(C, pp, Z₁..Zₙ) — Evaluate function C over puzzles  (instant, no solving!)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HP.PSolve(pp, Z) — Solve a puzzle to recover secret  (T sequential squarings)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Compactness: Size of evaluated puzzle &amp; solving time are independent of circuit size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This is what makes HTLP useful — otherwise just solving all puzzles would suffice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13/28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LHTLP Construction (Linearly Homomorphic)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Based on Paillier-style encoding in Z*_{N²}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Setup:  N = p·q (strong RSA integer),  g := -g̃² mod N,  h := g^(2^T) mod N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Puzzle Generation (PGen) for secret s: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r ← {1,...,N²}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u := g^r mod N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v := h^(r·N) · (1+N)^s mod N²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Homomorphic Evaluation (PEval) — just multiply!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ũ := ∏ uᵢ mod N     ṽ := ∏ vᵢ mod N²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→ Result puzzle encodes  s₁ + s₂ + ... + sₙ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Solving (PSolve):  w := u^(2^T) mod N  (T squarings), then Paillier decode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14/28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Why Homomorphic Addition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The encoding (1+N)^s has a special property: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(1+N)^a  ·  (1+N)^b  =  (1+N)^(a+b)  mod N²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When we multiply two puzzle v-components: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v₁ · v₂ = h^(r₁·N)·(1+N)^s₁ · h^(r₂·N)·(1+N)^s₂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= h^((r₁+r₂)·N) · (1+N)^(s₁+s₂)  mod N²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The blinding factors (h^(r·N)) combine harmlessly.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The secrets ADD UP. Solving recovers s₁ + s₂.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Security: Sequential Squaring + DDH over J_N + DCR over Z*_{N²}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15/28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Multiplicatively Homomorphic TLP (MHTLP)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Switching from Paillier to Diffie-Hellman structure in J_N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PGen: u := g^r mod N,  v := h^r · s mod N  (DH-style encoding)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PSolve: w := u^(2^T) mod N,  s := v / w mod N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Multiplying puzzles: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v₁ · v₂ = h^(r₁)·s₁ · h^(r₂)·s₂ = h^(r₁+r₂) · (s₁ · s₂) mod N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→ Secrets are MULTIPLIED when puzzles are combined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XOR variant: Encode s ∈ {0,1} as (-1)^s → multiplication becomes XOR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Security: Sequential Squaring + DDH over J_N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16/28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8DA3"/>
                </a:solidFill>
              </a:defRPr>
            </a:pPr>
            <a:r>
              <a:t>Application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C63FF"/>
                </a:solidFill>
              </a:defRPr>
            </a:pPr>
            <a:r>
              <a:t>Multi-Party Coin Flipping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8B8DA3"/>
                </a:solidFill>
              </a:defRPr>
            </a:pPr>
            <a:r>
              <a:t>Fair randomness without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17/28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Multi-Party Coin Flipping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Goal: n parties flip a coin — even n−1 colluders cannot bias the outcome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Protocol (using LHTLP):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1. Setup: Generate public parameters pp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2. Each party chooses random bit bᵢ, creates Zᵢ = PGen(pp, bᵢ), broadcasts Zᵢ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3. Combine: Z = PEval(⊕, Z₁,...,Zₙ)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4. Solve Z → recover sum s → coin = LSB(s)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Fairness: Each bit is time-locked. Can't see other bits before committing.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Complexity:  Without HTLP: n × T squarings  |  With HTLP: 1 × T squarings</a:t>
            </a: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Relevant for blockchain randomness (e.g., Ethereum)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18/28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8DA3"/>
                </a:solidFill>
              </a:defRPr>
            </a:pPr>
            <a:r>
              <a:t>Application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C63FF"/>
                </a:solidFill>
              </a:defRPr>
            </a:pPr>
            <a:r>
              <a:t>E-Voting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8B8DA3"/>
                </a:solidFill>
              </a:defRPr>
            </a:pPr>
            <a:r>
              <a:t>Scalable, unbiased elections without a trusted authority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19/28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E-Voting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Setting: n voters, m candidates. No trusted tallying authority.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Voting Phase — each voter Vᵢ voting for candidate j creates: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vote = (Z₁,...,Zₘ)  where  Zₖ = PGen(0) for k ≠ j,  Zⱼ = PGen(1)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Example (2 candidates): Vote Alice = (PGen(1), PGen(0))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Counting Phase — for each candidate j: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1. Combine all j-th puzzles:  Z̃ⱼ = PEval(⊕, Z_j^(1),...,Z_j^(n))  [instant]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2. Solve one puzzle:  vⱼ = PSolve(pp, Z̃ⱼ)  [T squarings]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→ vⱼ = total votes for candidate j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Only m puzzles to solve, not n!  (5 candidates, 1M voters → 5 puzzles)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20/28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E-Voting Security Properties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Ballot Secrecy: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Individual votes locked in time-lock puzzles. No one can decrypt before time T.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No Bias: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Votes committed before counting. Time-lock prevents peeking at partial results.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DoS Resilient: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Voters going offline is fine — puzzles already combined. No cooperation needed.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No Trusted Authority: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Counting is a public operation. Anyone can combine &amp; solve.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Perfect for blockchain deployment with append-only bulletin board.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21/28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8B8DA3"/>
                </a:solidFill>
              </a:defRPr>
            </a:pPr>
            <a:r>
              <a:t>Our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C63FF"/>
                </a:solidFill>
              </a:defRPr>
            </a:pPr>
            <a:r>
              <a:t>Voting Application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8B8DA3"/>
                </a:solidFill>
              </a:defRPr>
            </a:pPr>
            <a:r>
              <a:t>A live demo of LHTLP e-voting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22/28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Application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Project Structure: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app.py — Flask server + LHTLP cryptography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templates/index.html — Voter interface (phone)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templates/admin.html — Admin dashboard (presenter screen)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ngrok.exe — Public tunnel for audience access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Parameters: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Key size: 128-bit safe primes  |  Modulus N: ~256 bits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Target solving time: ~150 seconds per puzzle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Flow: Voters (phone) → Server encrypts (PGen) → Admin closes →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PEval combines (instant) → PSolve runs (~5 min for 2 candidates)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23/28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Code: The LHTLP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PGen(s):  r = random, u = g^r mod N, v = h^(r·N) · (1+N)^s mod N²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PEval(puzzles):  multiply all u's mod N, multiply all v's mod N²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→ Runs in microseconds regardless of vote count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PSolve(puzzle):  w = u, then for i in range(T): w = w² mod N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→ Decode: (v · (w^N)⁻¹ mod N² − 1) / N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→ ~150 seconds of sequential squaring per candidate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Vote casting: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Alice → (PGen(1), PGen(0))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Bob   → (PGen(0), PGen(1))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24/28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D4AA"/>
                </a:solidFill>
              </a:defRPr>
            </a:pPr>
            <a: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01752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200">
                <a:solidFill>
                  <a:srgbClr val="E8E8F0"/>
                </a:solidFill>
              </a:defRPr>
            </a:pPr>
            <a:r>
              <a:t>Let's switch to the admin dashboard and reveal the results!</a:t>
            </a:r>
          </a:p>
          <a:p>
            <a:pPr algn="ctr">
              <a:spcAft>
                <a:spcPts val="600"/>
              </a:spcAft>
              <a:defRPr sz="2200">
                <a:solidFill>
                  <a:srgbClr val="E8E8F0"/>
                </a:solidFill>
              </a:defRPr>
            </a:pPr>
          </a:p>
          <a:p>
            <a:pPr algn="ctr">
              <a:spcAft>
                <a:spcPts val="600"/>
              </a:spcAft>
              <a:defRPr sz="2200">
                <a:solidFill>
                  <a:srgbClr val="8B8DA3"/>
                </a:solidFill>
              </a:defRPr>
            </a:pPr>
            <a:r>
              <a:t>The server has been homomorphically combining all your votes</a:t>
            </a:r>
          </a:p>
          <a:p>
            <a:pPr algn="ctr">
              <a:spcAft>
                <a:spcPts val="600"/>
              </a:spcAft>
              <a:defRPr sz="2200">
                <a:solidFill>
                  <a:srgbClr val="8B8DA3"/>
                </a:solidFill>
              </a:defRPr>
            </a:pPr>
            <a:r>
              <a:t>and solving the time-lock puzzles in the background.</a:t>
            </a:r>
          </a:p>
          <a:p>
            <a:pPr algn="ctr">
              <a:spcAft>
                <a:spcPts val="600"/>
              </a:spcAft>
              <a:defRPr sz="2200">
                <a:solidFill>
                  <a:srgbClr val="8B8DA3"/>
                </a:solidFill>
              </a:defRPr>
            </a:pPr>
          </a:p>
          <a:p>
            <a:pPr algn="ctr">
              <a:spcAft>
                <a:spcPts val="600"/>
              </a:spcAft>
              <a:defRPr sz="2200">
                <a:solidFill>
                  <a:srgbClr val="8B8DA3"/>
                </a:solidFill>
              </a:defRPr>
            </a:pPr>
            <a:r>
              <a:t>No individual vote was ever decrypted —</a:t>
            </a:r>
          </a:p>
          <a:p>
            <a:pPr algn="ctr">
              <a:spcAft>
                <a:spcPts val="600"/>
              </a:spcAft>
              <a:defRPr sz="2200">
                <a:solidFill>
                  <a:srgbClr val="8B8DA3"/>
                </a:solidFill>
              </a:defRPr>
            </a:pPr>
            <a:r>
              <a:t>only the aggregate result was recovered.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25/28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What We Covered: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Time-Lock Puzzles: encrypt messages for the future via sequential squaring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Homomorphism: compute on ciphertexts without decrypting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HTLP: evaluate over puzzles, then solve once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Paper Constructions: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LHTLP (Addition) — Voting, Coin Flip — Seq.Sq. + DDH + DCR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• MHTLP (Multiplication) — Contract Signing — Seq.Sq. + DDH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Extensions: Reusable setup, combining different T values,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semi-compact scheme for branching programs, public-coin setup (open)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26/28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6C63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1. Evaluate first, solve once.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HTLPs reduce computation from O(n·T) to O(m·T)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— independent of the number of participants.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2. Blockchain-ready.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No trusted authority. Puzzle solving is public.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Anyone can combine and verify.</a:t>
            </a:r>
          </a:p>
          <a:p>
            <a:pPr>
              <a:spcAft>
                <a:spcPts val="200"/>
              </a:spcAft>
              <a:defRPr sz="1000"/>
            </a:pPr>
          </a:p>
          <a:p>
            <a:pPr>
              <a:spcAft>
                <a:spcPts val="600"/>
              </a:spcAft>
              <a:defRPr sz="2400">
                <a:solidFill>
                  <a:srgbClr val="E8E8F0"/>
                </a:solidFill>
              </a:defRPr>
            </a:pPr>
            <a:r>
              <a:t>3. Open challenges.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Efficient public-coin setup,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practical fully-homomorphic TLP without obfuscation,</a:t>
            </a:r>
          </a:p>
          <a:p>
            <a:pPr lvl="1">
              <a:spcAft>
                <a:spcPts val="400"/>
              </a:spcAft>
              <a:defRPr sz="2000">
                <a:solidFill>
                  <a:srgbClr val="8B8DA3"/>
                </a:solidFill>
              </a:defRPr>
            </a:pPr>
            <a:r>
              <a:t>tighter security reductions.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27/28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C63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2200">
                <a:solidFill>
                  <a:srgbClr val="8B8DA3"/>
                </a:solidFill>
              </a:defRPr>
            </a:pPr>
            <a:r>
              <a:t>Questions?</a:t>
            </a:r>
          </a:p>
          <a:p>
            <a:pPr algn="ctr">
              <a:spcAft>
                <a:spcPts val="400"/>
              </a:spcAft>
              <a:defRPr sz="2200">
                <a:solidFill>
                  <a:srgbClr val="8B8DA3"/>
                </a:solidFill>
              </a:defRPr>
            </a:pPr>
          </a:p>
          <a:p>
            <a:pPr algn="ctr">
              <a:spcAft>
                <a:spcPts val="400"/>
              </a:spcAft>
              <a:defRPr sz="2200">
                <a:solidFill>
                  <a:srgbClr val="8B8DA3"/>
                </a:solidFill>
              </a:defRPr>
            </a:pPr>
            <a:r>
              <a:t>Malavolta, G. &amp; Thyagarajan, S. A. K. (2019).</a:t>
            </a:r>
          </a:p>
          <a:p>
            <a:pPr algn="ctr">
              <a:spcAft>
                <a:spcPts val="400"/>
              </a:spcAft>
              <a:defRPr sz="2200">
                <a:solidFill>
                  <a:srgbClr val="8B8DA3"/>
                </a:solidFill>
              </a:defRPr>
            </a:pPr>
            <a:r>
              <a:t>Homomorphic Time-Lock Puzzles and Applications.</a:t>
            </a:r>
          </a:p>
          <a:p>
            <a:pPr algn="ctr">
              <a:spcAft>
                <a:spcPts val="400"/>
              </a:spcAft>
              <a:defRPr sz="2200">
                <a:solidFill>
                  <a:srgbClr val="8B8DA3"/>
                </a:solidFill>
              </a:defRPr>
            </a:pPr>
            <a:r>
              <a:t>IACR ePrint 2019/635.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8B8DA3"/>
                </a:solidFill>
              </a:defRPr>
            </a:pPr>
            <a:r>
              <a:t>28/28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